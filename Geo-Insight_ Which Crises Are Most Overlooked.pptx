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Poppins"/>
      <p:regular r:id="rId15"/>
      <p:bold r:id="rId16"/>
      <p:italic r:id="rId17"/>
      <p:boldItalic r:id="rId18"/>
    </p:embeddedFont>
    <p:embeddedFont>
      <p:font typeface="Merriweather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F6B7E90-E883-45D0-B493-5506DEC5DB8D}">
  <a:tblStyle styleId="{4F6B7E90-E883-45D0-B493-5506DEC5DB8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bold.fntdata"/><Relationship Id="rId11" Type="http://schemas.openxmlformats.org/officeDocument/2006/relationships/slide" Target="slides/slide5.xml"/><Relationship Id="rId22" Type="http://schemas.openxmlformats.org/officeDocument/2006/relationships/font" Target="fonts/Merriweather-boldItalic.fntdata"/><Relationship Id="rId10" Type="http://schemas.openxmlformats.org/officeDocument/2006/relationships/slide" Target="slides/slide4.xml"/><Relationship Id="rId21" Type="http://schemas.openxmlformats.org/officeDocument/2006/relationships/font" Target="fonts/Merriweather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Poppins-regular.fntdata"/><Relationship Id="rId14" Type="http://schemas.openxmlformats.org/officeDocument/2006/relationships/slide" Target="slides/slide8.xml"/><Relationship Id="rId17" Type="http://schemas.openxmlformats.org/officeDocument/2006/relationships/font" Target="fonts/Poppins-italic.fntdata"/><Relationship Id="rId16" Type="http://schemas.openxmlformats.org/officeDocument/2006/relationships/font" Target="fonts/Poppins-bold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Merriweather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oppi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750e850b3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d750e850b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750e850b3_6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750e850b3_6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750e850b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750e850b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750e850b3_1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750e850b3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750e850b3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750e850b3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750e850b3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750e850b3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750e850b3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750e850b3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750e850b3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750e850b3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6" name="Google Shape;16;p3"/>
          <p:cNvSpPr txBox="1"/>
          <p:nvPr/>
        </p:nvSpPr>
        <p:spPr>
          <a:xfrm>
            <a:off x="189125" y="4623463"/>
            <a:ext cx="27063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9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Uninformed Priors</a:t>
            </a:r>
            <a:endParaRPr sz="19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7" name="Google Shape;17;p3" title="Screenshot 2026-04-19 at 9.48.08 A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36100" y="4522812"/>
            <a:ext cx="2496199" cy="53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Char char="●"/>
              <a:defRPr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○"/>
              <a:defRPr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■"/>
              <a:defRPr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  <a:defRPr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○"/>
              <a:defRPr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■"/>
              <a:defRPr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  <a:defRPr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○"/>
              <a:defRPr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■"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erriweather"/>
              <a:buChar char="●"/>
              <a:defRPr sz="18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erriweather"/>
              <a:buChar char="○"/>
              <a:defRPr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erriweather"/>
              <a:buChar char="■"/>
              <a:defRPr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erriweather"/>
              <a:buChar char="●"/>
              <a:defRPr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erriweather"/>
              <a:buChar char="○"/>
              <a:defRPr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erriweather"/>
              <a:buChar char="■"/>
              <a:defRPr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erriweather"/>
              <a:buChar char="●"/>
              <a:defRPr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erriweather"/>
              <a:buChar char="○"/>
              <a:defRPr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erriweather"/>
              <a:buChar char="■"/>
              <a:defRPr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1160850" y="218600"/>
            <a:ext cx="6822300" cy="14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4020"/>
              <a:t>A Severity Based Analysis of UNOCHA Funding</a:t>
            </a:r>
            <a:endParaRPr sz="4320"/>
          </a:p>
        </p:txBody>
      </p:sp>
      <p:sp>
        <p:nvSpPr>
          <p:cNvPr id="57" name="Google Shape;57;p13"/>
          <p:cNvSpPr txBox="1"/>
          <p:nvPr/>
        </p:nvSpPr>
        <p:spPr>
          <a:xfrm>
            <a:off x="2758800" y="1588250"/>
            <a:ext cx="36264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rPr>
              <a:t>Lorenzo, Mateusz, Elijah, Simone</a:t>
            </a:r>
            <a:endParaRPr sz="1700">
              <a:solidFill>
                <a:schemeClr val="l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3300" y="2109052"/>
            <a:ext cx="2157400" cy="21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>
            <a:off x="189125" y="4623463"/>
            <a:ext cx="27063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9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Uninformed Priors</a:t>
            </a:r>
            <a:endParaRPr sz="19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60" name="Google Shape;60;p13" title="Screenshot 2026-04-19 at 9.48.08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6100" y="4522812"/>
            <a:ext cx="2496199" cy="53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475" y="420275"/>
            <a:ext cx="6656649" cy="4077499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0" y="4713473"/>
            <a:ext cx="22305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rPr>
              <a:t>Uninformed Priors</a:t>
            </a:r>
            <a:endParaRPr sz="1300">
              <a:solidFill>
                <a:schemeClr val="l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67" name="Google Shape;67;p14" title="Screenshot 2026-04-19 at 9.48.08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58715" y="4688350"/>
            <a:ext cx="1604961" cy="34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/>
        </p:nvSpPr>
        <p:spPr>
          <a:xfrm>
            <a:off x="0" y="4713473"/>
            <a:ext cx="22305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rPr>
              <a:t>Uninformed Priors</a:t>
            </a:r>
            <a:endParaRPr sz="1300">
              <a:solidFill>
                <a:schemeClr val="l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73" name="Google Shape;73;p15" title="Screenshot 2026-04-19 at 9.48.0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8715" y="4688350"/>
            <a:ext cx="1604961" cy="34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1488" y="551275"/>
            <a:ext cx="5961026" cy="4040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0963" y="617725"/>
            <a:ext cx="5862076" cy="390805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0" y="4713473"/>
            <a:ext cx="22305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rPr>
              <a:t>Uninformed Priors</a:t>
            </a:r>
            <a:endParaRPr sz="1300">
              <a:solidFill>
                <a:schemeClr val="l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81" name="Google Shape;81;p16" title="Screenshot 2026-04-19 at 9.48.08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58715" y="4688350"/>
            <a:ext cx="1604961" cy="34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0" y="4713473"/>
            <a:ext cx="22305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rPr>
              <a:t>Uninformed Priors</a:t>
            </a:r>
            <a:endParaRPr sz="1300">
              <a:solidFill>
                <a:schemeClr val="l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88" name="Google Shape;88;p17" title="Screenshot 2026-04-19 at 9.48.0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8715" y="4688350"/>
            <a:ext cx="1604961" cy="3433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" name="Google Shape;89;p17"/>
          <p:cNvGraphicFramePr/>
          <p:nvPr/>
        </p:nvGraphicFramePr>
        <p:xfrm>
          <a:off x="952500" y="384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{4F6B7E90-E883-45D0-B493-5506DEC5DB8D}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75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Japan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USA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Norway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Germany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Canada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37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rgbClr val="FD9C42"/>
                          </a:solidFill>
                        </a:rPr>
                        <a:t>7.23</a:t>
                      </a:r>
                      <a:endParaRPr b="1">
                        <a:solidFill>
                          <a:srgbClr val="FD9C4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rgbClr val="F43D26"/>
                          </a:solidFill>
                        </a:rPr>
                        <a:t>7.96</a:t>
                      </a:r>
                      <a:endParaRPr b="1">
                        <a:solidFill>
                          <a:srgbClr val="F43D2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rgbClr val="9E0127"/>
                          </a:solidFill>
                        </a:rPr>
                        <a:t>8.98</a:t>
                      </a:r>
                      <a:endParaRPr b="1">
                        <a:solidFill>
                          <a:srgbClr val="9E0127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rgbClr val="F43D26"/>
                          </a:solidFill>
                        </a:rPr>
                        <a:t>8.00</a:t>
                      </a:r>
                      <a:endParaRPr b="1">
                        <a:solidFill>
                          <a:srgbClr val="F43D2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rgbClr val="F43D26"/>
                          </a:solidFill>
                        </a:rPr>
                        <a:t>7.94</a:t>
                      </a:r>
                      <a:endParaRPr b="1">
                        <a:solidFill>
                          <a:srgbClr val="F43D26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0" name="Google Shape;90;p17"/>
          <p:cNvSpPr txBox="1"/>
          <p:nvPr/>
        </p:nvSpPr>
        <p:spPr>
          <a:xfrm>
            <a:off x="952500" y="3558250"/>
            <a:ext cx="65658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Table: </a:t>
            </a:r>
            <a:r>
              <a:rPr b="1" lang="it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Weighted</a:t>
            </a:r>
            <a:r>
              <a:rPr b="1" lang="it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Average Severity Crisis Level  Donated to by five Largest Donors</a:t>
            </a:r>
            <a:endParaRPr b="1"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1" name="Google Shape;91;p17" title="FundingFlowsMap (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013" y="201375"/>
            <a:ext cx="8487982" cy="325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8" title="Screenshot 2026-04-19 at 9.48.0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8715" y="4688350"/>
            <a:ext cx="1604961" cy="34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27475" y="672025"/>
            <a:ext cx="5489050" cy="203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27475" y="2707225"/>
            <a:ext cx="5489048" cy="226932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 txBox="1"/>
          <p:nvPr/>
        </p:nvSpPr>
        <p:spPr>
          <a:xfrm>
            <a:off x="337500" y="171775"/>
            <a:ext cx="84690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RELATIONSHIP BETWEEN PROJECT FUNDS ALLOCATION AND CRISIS SEVERITY PER COUNTRY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0" y="4713473"/>
            <a:ext cx="22305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rPr>
              <a:t>Uninformed Priors</a:t>
            </a:r>
            <a:endParaRPr sz="1300">
              <a:solidFill>
                <a:schemeClr val="l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/>
        </p:nvSpPr>
        <p:spPr>
          <a:xfrm>
            <a:off x="0" y="4713473"/>
            <a:ext cx="22305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rPr>
              <a:t>Uninformed Priors</a:t>
            </a:r>
            <a:endParaRPr sz="1300">
              <a:solidFill>
                <a:schemeClr val="l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06" name="Google Shape;106;p19" title="Screenshot 2026-04-19 at 9.48.0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8715" y="4688350"/>
            <a:ext cx="1604961" cy="34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9"/>
          <p:cNvSpPr txBox="1"/>
          <p:nvPr/>
        </p:nvSpPr>
        <p:spPr>
          <a:xfrm>
            <a:off x="337500" y="171775"/>
            <a:ext cx="84690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RELATIONSHIP BETWEEN PROJECT FUNDS ALLOCATION AND CRISIS SEVERITY PER COUNTRY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7725" y="1262400"/>
            <a:ext cx="4141876" cy="261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/>
          <p:cNvPicPr preferRelativeResize="0"/>
          <p:nvPr/>
        </p:nvPicPr>
        <p:blipFill rotWithShape="1">
          <a:blip r:embed="rId5">
            <a:alphaModFix/>
          </a:blip>
          <a:srcRect b="0" l="1029" r="0" t="0"/>
          <a:stretch/>
        </p:blipFill>
        <p:spPr>
          <a:xfrm>
            <a:off x="0" y="1644458"/>
            <a:ext cx="4716876" cy="1854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/>
        </p:nvSpPr>
        <p:spPr>
          <a:xfrm>
            <a:off x="189125" y="4623463"/>
            <a:ext cx="27063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9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Uninformed Priors</a:t>
            </a:r>
            <a:endParaRPr sz="19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15" name="Google Shape;115;p20" title="Screenshot 2026-04-19 at 9.48.0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6100" y="4522812"/>
            <a:ext cx="2496199" cy="53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0"/>
          <p:cNvSpPr txBox="1"/>
          <p:nvPr>
            <p:ph type="title"/>
          </p:nvPr>
        </p:nvSpPr>
        <p:spPr>
          <a:xfrm>
            <a:off x="2512800" y="2088600"/>
            <a:ext cx="4118400" cy="9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i="1" lang="it" sz="4620"/>
              <a:t>Thank You! </a:t>
            </a:r>
            <a:endParaRPr b="1" i="1" sz="4620"/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125" y="137076"/>
            <a:ext cx="1023224" cy="1023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